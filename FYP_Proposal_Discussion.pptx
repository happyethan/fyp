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Introduce the project in one sentence: the goal is not only to replay an XY path, but to sense brush deformation and control contact during writing.</a:t>
            </a:r>
          </a:p>
          <a:p/>
          <a:p>
            <a:r>
              <a:t>[Sources]</a:t>
            </a:r>
          </a:p>
          <a:p>
            <a:r>
              <a:t>- FYP_Proposal_Discussion_2026.pptx (project photograph and context)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the background with a simple contrast. Calligraphy depends on continuous pressing and lifting. The robot can follow a path, but without contact sensing it cannot tell whether the brush is behaving as intended.</a:t>
            </a:r>
          </a:p>
          <a:p/>
          <a:p>
            <a:r>
              <a:t>[Sources]</a:t>
            </a:r>
          </a:p>
          <a:p>
            <a:r>
              <a:t>- plan.md (project goal and position-only limitation)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Emphasise three reasons the project matters: improving repeatability, preserving the dynamic pressing-and-lifting part of calligraphy, and developing a reusable approach for robots that manipulate soft or deformable tools.</a:t>
            </a:r>
          </a:p>
          <a:p/>
          <a:p>
            <a:r>
              <a:t>[Sources]</a:t>
            </a:r>
          </a:p>
          <a:p>
            <a:r>
              <a:t>- plan.md (project objective and proposed tactile control scope)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 these as the proposed contributions, not as a claim of being the first in the world. The key difference is that sensing is embedded close to contact, the signal becomes a control target, and StrokePlan connects demonstration with execution.</a:t>
            </a:r>
          </a:p>
          <a:p/>
          <a:p>
            <a:r>
              <a:t>[Sources]</a:t>
            </a:r>
          </a:p>
          <a:p>
            <a:r>
              <a:t>- plan.md (interfaces g_meas and StrokePlan)</a:t>
            </a:r>
          </a:p>
          <a:p>
            <a:r>
              <a:t>- docs/professor-intro.md (system concept)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Keep the progress summary brief. The sensor and recorder work, preliminary data exists, and the robot execution side has been demonstrated. The complete assembled sensor-driven hardware loop is still the next proof.</a:t>
            </a:r>
          </a:p>
          <a:p/>
          <a:p>
            <a:r>
              <a:t>[Sources]</a:t>
            </a:r>
          </a:p>
          <a:p>
            <a:r>
              <a:t>- plan.md (A1 and A3 status)</a:t>
            </a:r>
          </a:p>
          <a:p>
            <a:r>
              <a:t>- data/sensor/delta_b/delta_b_v0_manifest.md</a:t>
            </a:r>
          </a:p>
          <a:p>
            <a:r>
              <a:t>- docs/z-control.md (control software evidence)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First I will complete physical brush integration. Next I will validate whether the assembled signal is stable and separable. Finally I will calibrate it, synchronise it with motion data, and compare open-loop with tactile-feedback writing.</a:t>
            </a:r>
          </a:p>
          <a:p/>
          <a:p>
            <a:r>
              <a:t>[Sources]</a:t>
            </a:r>
          </a:p>
          <a:p>
            <a:r>
              <a:t>- plan.md (A0–A4 next tasks and gate experiments)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Close by asking for scope confirmation. The proposal should first prove a real tactile loop. Learning-based generalisation should remain a later extension rather than compete with the core hardware validation.</a:t>
            </a:r>
          </a:p>
          <a:p/>
          <a:p>
            <a:r>
              <a:t>[Sources]</a:t>
            </a:r>
          </a:p>
          <a:p>
            <a:r>
              <a:t>- plan.md (core-first scope and later learning-based milestones)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png"/><Relationship Id="rId3" Type="http://schemas.openxmlformats.org/officeDocument/2006/relationships/tags" Target="../tags/tag1.xml"/><Relationship Id="rId2" Type="http://schemas.microsoft.com/office/2007/relationships/media" Target="../media/media1.mp4"/><Relationship Id="rId1" Type="http://schemas.openxmlformats.org/officeDocument/2006/relationships/video" Target="../media/media1.mp4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cover-marker"/>
          <p:cNvSpPr>
            <a:spLocks noGrp="1"/>
          </p:cNvSpPr>
          <p:nvPr/>
        </p:nvSpPr>
        <p:spPr>
          <a:xfrm>
            <a:off x="628650" y="590550"/>
            <a:ext cx="209550" cy="209550"/>
          </a:xfrm>
          <a:prstGeom prst="rect">
            <a:avLst/>
          </a:prstGeom>
          <a:solidFill>
            <a:srgbClr val="52D6B8"/>
          </a:solidFill>
          <a:ln w="0">
            <a:solidFill>
              <a:srgbClr val="52D6B8"/>
            </a:solidFill>
            <a:prstDash val="solid"/>
          </a:ln>
        </p:spPr>
      </p:sp>
      <p:sp>
        <p:nvSpPr>
          <p:cNvPr id="4" name="cover-kicker"/>
          <p:cNvSpPr>
            <a:spLocks noGrp="1"/>
          </p:cNvSpPr>
          <p:nvPr/>
        </p:nvSpPr>
        <p:spPr>
          <a:xfrm>
            <a:off x="990600" y="590550"/>
            <a:ext cx="4095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 i="0">
                <a:solidFill>
                  <a:srgbClr val="52D6B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125" b="1" i="0">
                <a:solidFill>
                  <a:srgbClr val="52D6B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FYP PROPOSAL DISCUSSION</a:t>
            </a:r>
            <a:endParaRPr sz="1125" b="1" i="0">
              <a:solidFill>
                <a:srgbClr val="52D6B8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5" name="cover-title"/>
          <p:cNvSpPr>
            <a:spLocks noGrp="1"/>
          </p:cNvSpPr>
          <p:nvPr/>
        </p:nvSpPr>
        <p:spPr>
          <a:xfrm>
            <a:off x="2207260" y="2857500"/>
            <a:ext cx="8052435" cy="11436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4650" b="1" i="0">
                <a:solidFill>
                  <a:srgbClr val="F7F3E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4650" b="1" i="0">
                <a:solidFill>
                  <a:srgbClr val="F7F3E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Tactile</a:t>
            </a:r>
            <a:r>
              <a:rPr lang="en-US" sz="4650" b="1" i="0">
                <a:solidFill>
                  <a:srgbClr val="F7F3E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 </a:t>
            </a:r>
            <a:r>
              <a:rPr sz="4650" b="1" i="0">
                <a:solidFill>
                  <a:srgbClr val="F7F3E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Calligraphy</a:t>
            </a:r>
            <a:r>
              <a:rPr lang="en-US" sz="4650" b="1" i="0">
                <a:solidFill>
                  <a:srgbClr val="F7F3E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 </a:t>
            </a:r>
            <a:r>
              <a:rPr sz="4650" b="1" i="0">
                <a:solidFill>
                  <a:srgbClr val="F7F3E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Robot</a:t>
            </a:r>
            <a:endParaRPr sz="4650" b="1" i="0">
              <a:solidFill>
                <a:srgbClr val="F7F3EA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6" name="cover-subtitle"/>
          <p:cNvSpPr>
            <a:spLocks noGrp="1"/>
          </p:cNvSpPr>
          <p:nvPr/>
        </p:nvSpPr>
        <p:spPr>
          <a:xfrm>
            <a:off x="3575685" y="4004945"/>
            <a:ext cx="53340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025" b="0" i="0">
                <a:solidFill>
                  <a:srgbClr val="AAB4C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025" b="0" i="0">
                <a:solidFill>
                  <a:srgbClr val="AAB4C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Making brush–paper interaction</a:t>
            </a:r>
            <a:endParaRPr sz="2025" b="0" i="0">
              <a:solidFill>
                <a:srgbClr val="AAB4C8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algn="l">
              <a:defRPr sz="2025" b="0" i="0">
                <a:solidFill>
                  <a:srgbClr val="AAB4C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025" b="0" i="0">
                <a:solidFill>
                  <a:srgbClr val="AAB4C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measurable and controllable</a:t>
            </a:r>
            <a:endParaRPr sz="2025" b="0" i="0">
              <a:solidFill>
                <a:srgbClr val="AAB4C8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background-side-bar"/>
          <p:cNvSpPr>
            <a:spLocks noGrp="1"/>
          </p:cNvSpPr>
          <p:nvPr/>
        </p:nvSpPr>
        <p:spPr>
          <a:xfrm>
            <a:off x="0" y="0"/>
            <a:ext cx="266700" cy="6858000"/>
          </a:xfrm>
          <a:prstGeom prst="rect">
            <a:avLst/>
          </a:prstGeom>
          <a:solidFill>
            <a:srgbClr val="52D6B8"/>
          </a:solidFill>
          <a:ln w="0">
            <a:solidFill>
              <a:srgbClr val="52D6B8"/>
            </a:solidFill>
            <a:prstDash val="solid"/>
          </a:ln>
        </p:spPr>
      </p:sp>
      <p:sp>
        <p:nvSpPr>
          <p:cNvPr id="2" name="background-kicker"/>
          <p:cNvSpPr>
            <a:spLocks noGrp="1"/>
          </p:cNvSpPr>
          <p:nvPr/>
        </p:nvSpPr>
        <p:spPr>
          <a:xfrm>
            <a:off x="685800" y="49530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 i="0">
                <a:solidFill>
                  <a:srgbClr val="FF6B5C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125" b="1" i="0">
                <a:solidFill>
                  <a:srgbClr val="FF6B5C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BACKGROUND</a:t>
            </a:r>
            <a:endParaRPr sz="1125" b="1" i="0">
              <a:solidFill>
                <a:srgbClr val="FF6B5C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" name="background-title"/>
          <p:cNvSpPr>
            <a:spLocks noGrp="1"/>
          </p:cNvSpPr>
          <p:nvPr/>
        </p:nvSpPr>
        <p:spPr>
          <a:xfrm>
            <a:off x="685800" y="1066800"/>
            <a:ext cx="67627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750" b="1" i="0">
                <a:solidFill>
                  <a:srgbClr val="0B132B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3750" b="1" i="0">
                <a:solidFill>
                  <a:srgbClr val="0B132B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Calligraphy depends on</a:t>
            </a:r>
            <a:endParaRPr sz="3750" b="1" i="0">
              <a:solidFill>
                <a:srgbClr val="0B132B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algn="l">
              <a:defRPr sz="3750" b="1" i="0">
                <a:solidFill>
                  <a:srgbClr val="0B132B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3750" b="1" i="0">
                <a:solidFill>
                  <a:srgbClr val="0B132B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contact, not path alone</a:t>
            </a:r>
            <a:endParaRPr sz="3750" b="1" i="0">
              <a:solidFill>
                <a:srgbClr val="0B132B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4" name="background-human-label"/>
          <p:cNvSpPr>
            <a:spLocks noGrp="1"/>
          </p:cNvSpPr>
          <p:nvPr/>
        </p:nvSpPr>
        <p:spPr>
          <a:xfrm>
            <a:off x="685800" y="3105150"/>
            <a:ext cx="5334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250" b="1" i="0">
                <a:solidFill>
                  <a:srgbClr val="FF6B5C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250" b="1" i="0">
                <a:solidFill>
                  <a:srgbClr val="FF6B5C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PRESSING + LIFTING</a:t>
            </a:r>
            <a:endParaRPr sz="2250" b="1" i="0">
              <a:solidFill>
                <a:srgbClr val="FF6B5C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5" name="background-human-copy"/>
          <p:cNvSpPr>
            <a:spLocks noGrp="1"/>
          </p:cNvSpPr>
          <p:nvPr/>
        </p:nvSpPr>
        <p:spPr>
          <a:xfrm>
            <a:off x="685800" y="3714750"/>
            <a:ext cx="53340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100" b="0" i="0">
                <a:solidFill>
                  <a:srgbClr val="66708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100" b="0" i="0">
                <a:solidFill>
                  <a:srgbClr val="66708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change brush shape, stroke width</a:t>
            </a:r>
            <a:endParaRPr sz="2100" b="0" i="0">
              <a:solidFill>
                <a:srgbClr val="667085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algn="l">
              <a:defRPr sz="2100" b="0" i="0">
                <a:solidFill>
                  <a:srgbClr val="66708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100" b="0" i="0">
                <a:solidFill>
                  <a:srgbClr val="66708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and ink distribution.</a:t>
            </a:r>
            <a:endParaRPr sz="2100" b="0" i="0">
              <a:solidFill>
                <a:srgbClr val="667085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6" name="background-dark-field"/>
          <p:cNvSpPr>
            <a:spLocks noGrp="1"/>
          </p:cNvSpPr>
          <p:nvPr/>
        </p:nvSpPr>
        <p:spPr>
          <a:xfrm>
            <a:off x="7486650" y="0"/>
            <a:ext cx="4705350" cy="6858000"/>
          </a:xfrm>
          <a:prstGeom prst="rect">
            <a:avLst/>
          </a:prstGeom>
          <a:solidFill>
            <a:srgbClr val="0B132B"/>
          </a:solidFill>
          <a:ln w="0">
            <a:solidFill>
              <a:srgbClr val="0B132B"/>
            </a:solidFill>
            <a:prstDash val="solid"/>
          </a:ln>
        </p:spPr>
      </p:sp>
      <p:sp>
        <p:nvSpPr>
          <p:cNvPr id="7" name="background-robot-label"/>
          <p:cNvSpPr>
            <a:spLocks noGrp="1"/>
          </p:cNvSpPr>
          <p:nvPr/>
        </p:nvSpPr>
        <p:spPr>
          <a:xfrm>
            <a:off x="7981950" y="1104900"/>
            <a:ext cx="34290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 i="0">
                <a:solidFill>
                  <a:srgbClr val="52D6B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875" b="1" i="0">
                <a:solidFill>
                  <a:srgbClr val="52D6B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ROBOT</a:t>
            </a:r>
            <a:endParaRPr sz="1875" b="1" i="0">
              <a:solidFill>
                <a:srgbClr val="52D6B8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algn="l">
              <a:defRPr sz="1875" b="1" i="0">
                <a:solidFill>
                  <a:srgbClr val="52D6B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875" b="1" i="0">
                <a:solidFill>
                  <a:srgbClr val="52D6B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LIMITATION</a:t>
            </a:r>
            <a:endParaRPr sz="1875" b="1" i="0">
              <a:solidFill>
                <a:srgbClr val="52D6B8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8" name="background-robot-copy"/>
          <p:cNvSpPr>
            <a:spLocks noGrp="1"/>
          </p:cNvSpPr>
          <p:nvPr/>
        </p:nvSpPr>
        <p:spPr>
          <a:xfrm>
            <a:off x="7981950" y="2667000"/>
            <a:ext cx="352425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175" b="0" i="0">
                <a:solidFill>
                  <a:srgbClr val="F7F3E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175" b="0" i="0">
                <a:solidFill>
                  <a:srgbClr val="F7F3E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A fixed XY–Z path</a:t>
            </a:r>
            <a:endParaRPr sz="2175" b="0" i="0">
              <a:solidFill>
                <a:srgbClr val="F7F3EA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algn="l">
              <a:defRPr sz="2175" b="0" i="0">
                <a:solidFill>
                  <a:srgbClr val="F7F3E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175" b="0" i="0">
                <a:solidFill>
                  <a:srgbClr val="F7F3E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cannot observe or correct</a:t>
            </a:r>
            <a:endParaRPr sz="2175" b="0" i="0">
              <a:solidFill>
                <a:srgbClr val="F7F3EA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algn="l">
              <a:defRPr sz="2175" b="0" i="0">
                <a:solidFill>
                  <a:srgbClr val="F7F3E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175" b="0" i="0">
                <a:solidFill>
                  <a:srgbClr val="F7F3E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changes in brush contact.</a:t>
            </a:r>
            <a:endParaRPr sz="2175" b="0" i="0">
              <a:solidFill>
                <a:srgbClr val="F7F3EA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9" name="background-thesis"/>
          <p:cNvSpPr>
            <a:spLocks noGrp="1"/>
          </p:cNvSpPr>
          <p:nvPr/>
        </p:nvSpPr>
        <p:spPr>
          <a:xfrm>
            <a:off x="7981950" y="4953000"/>
            <a:ext cx="3524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 i="0">
                <a:solidFill>
                  <a:srgbClr val="FF6B5C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875" b="1" i="0">
                <a:solidFill>
                  <a:srgbClr val="FF6B5C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The missing variable is</a:t>
            </a:r>
            <a:endParaRPr sz="1875" b="1" i="0">
              <a:solidFill>
                <a:srgbClr val="FF6B5C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algn="l">
              <a:defRPr sz="1875" b="1" i="0">
                <a:solidFill>
                  <a:srgbClr val="FF6B5C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875" b="1" i="0">
                <a:solidFill>
                  <a:srgbClr val="FF6B5C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brush–paper interaction.</a:t>
            </a:r>
            <a:endParaRPr sz="1875" b="1" i="0">
              <a:solidFill>
                <a:srgbClr val="FF6B5C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0" name="page-2"/>
          <p:cNvSpPr>
            <a:spLocks noGrp="1"/>
          </p:cNvSpPr>
          <p:nvPr/>
        </p:nvSpPr>
        <p:spPr>
          <a:xfrm>
            <a:off x="11334750" y="6334125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0" i="0">
                <a:solidFill>
                  <a:srgbClr val="AAB4C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975" b="0" i="0">
                <a:solidFill>
                  <a:srgbClr val="AAB4C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02</a:t>
            </a:r>
            <a:endParaRPr sz="975" b="0" i="0">
              <a:solidFill>
                <a:srgbClr val="AAB4C8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" name="importance-kicker"/>
          <p:cNvSpPr>
            <a:spLocks noGrp="1"/>
          </p:cNvSpPr>
          <p:nvPr/>
        </p:nvSpPr>
        <p:spPr>
          <a:xfrm>
            <a:off x="666750" y="41910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 i="0">
                <a:solidFill>
                  <a:srgbClr val="52D6B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125" b="1" i="0">
                <a:solidFill>
                  <a:srgbClr val="52D6B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IMPORTANCE</a:t>
            </a:r>
            <a:endParaRPr sz="1125" b="1" i="0">
              <a:solidFill>
                <a:srgbClr val="52D6B8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" name="importance-title"/>
          <p:cNvSpPr>
            <a:spLocks noGrp="1"/>
          </p:cNvSpPr>
          <p:nvPr/>
        </p:nvSpPr>
        <p:spPr>
          <a:xfrm>
            <a:off x="666750" y="876300"/>
            <a:ext cx="8572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525" b="1" i="0">
                <a:solidFill>
                  <a:srgbClr val="F7F3E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3525" b="1" i="0">
                <a:solidFill>
                  <a:srgbClr val="F7F3E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Why this project matters</a:t>
            </a:r>
            <a:endParaRPr sz="3525" b="1" i="0">
              <a:solidFill>
                <a:srgbClr val="F7F3EA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cxnSp>
        <p:nvCxnSpPr>
          <p:cNvPr id="18" name="importance-rule-01"/>
          <p:cNvCxnSpPr/>
          <p:nvPr/>
        </p:nvCxnSpPr>
        <p:spPr>
          <a:xfrm>
            <a:off x="666750" y="2971800"/>
            <a:ext cx="10858500" cy="0"/>
          </a:xfrm>
          <a:prstGeom prst="straightConnector1">
            <a:avLst/>
          </a:prstGeom>
          <a:ln w="9525">
            <a:solidFill>
              <a:srgbClr val="33405E"/>
            </a:solidFill>
            <a:prstDash val="solid"/>
          </a:ln>
        </p:spPr>
      </p:cxnSp>
      <p:sp>
        <p:nvSpPr>
          <p:cNvPr id="4" name="importance-number-01"/>
          <p:cNvSpPr>
            <a:spLocks noGrp="1"/>
          </p:cNvSpPr>
          <p:nvPr/>
        </p:nvSpPr>
        <p:spPr>
          <a:xfrm>
            <a:off x="666750" y="1866900"/>
            <a:ext cx="1143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600" b="1" i="0">
                <a:solidFill>
                  <a:srgbClr val="FF6B5C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3600" b="1" i="0">
                <a:solidFill>
                  <a:srgbClr val="FF6B5C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01</a:t>
            </a:r>
            <a:endParaRPr sz="3600" b="1" i="0">
              <a:solidFill>
                <a:srgbClr val="FF6B5C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5" name="importance-heading-01"/>
          <p:cNvSpPr>
            <a:spLocks noGrp="1"/>
          </p:cNvSpPr>
          <p:nvPr/>
        </p:nvSpPr>
        <p:spPr>
          <a:xfrm>
            <a:off x="2190750" y="1943100"/>
            <a:ext cx="3429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175" b="1" i="0">
                <a:solidFill>
                  <a:srgbClr val="F7F3E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175" b="1" i="0">
                <a:solidFill>
                  <a:srgbClr val="F7F3E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Repeatability</a:t>
            </a:r>
            <a:endParaRPr sz="2175" b="1" i="0">
              <a:solidFill>
                <a:srgbClr val="F7F3EA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6" name="importance-copy-01"/>
          <p:cNvSpPr>
            <a:spLocks noGrp="1"/>
          </p:cNvSpPr>
          <p:nvPr/>
        </p:nvSpPr>
        <p:spPr>
          <a:xfrm>
            <a:off x="5810250" y="1962150"/>
            <a:ext cx="5715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0" i="0">
                <a:solidFill>
                  <a:srgbClr val="AAB4C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50" b="0" i="0">
                <a:solidFill>
                  <a:srgbClr val="AAB4C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Control contact so the same plan produces more consistent strokes.</a:t>
            </a:r>
            <a:endParaRPr sz="1650" b="0" i="0">
              <a:solidFill>
                <a:srgbClr val="AAB4C8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cxnSp>
        <p:nvCxnSpPr>
          <p:cNvPr id="22" name="importance-rule-02"/>
          <p:cNvCxnSpPr/>
          <p:nvPr/>
        </p:nvCxnSpPr>
        <p:spPr>
          <a:xfrm>
            <a:off x="666750" y="4419600"/>
            <a:ext cx="10858500" cy="0"/>
          </a:xfrm>
          <a:prstGeom prst="straightConnector1">
            <a:avLst/>
          </a:prstGeom>
          <a:ln w="9525">
            <a:solidFill>
              <a:srgbClr val="33405E"/>
            </a:solidFill>
            <a:prstDash val="solid"/>
          </a:ln>
        </p:spPr>
      </p:cxnSp>
      <p:sp>
        <p:nvSpPr>
          <p:cNvPr id="8" name="importance-number-02"/>
          <p:cNvSpPr>
            <a:spLocks noGrp="1"/>
          </p:cNvSpPr>
          <p:nvPr/>
        </p:nvSpPr>
        <p:spPr>
          <a:xfrm>
            <a:off x="666750" y="3314700"/>
            <a:ext cx="1143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600" b="1" i="0">
                <a:solidFill>
                  <a:srgbClr val="52D6B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3600" b="1" i="0">
                <a:solidFill>
                  <a:srgbClr val="52D6B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02</a:t>
            </a:r>
            <a:endParaRPr sz="3600" b="1" i="0">
              <a:solidFill>
                <a:srgbClr val="52D6B8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9" name="importance-heading-02"/>
          <p:cNvSpPr>
            <a:spLocks noGrp="1"/>
          </p:cNvSpPr>
          <p:nvPr/>
        </p:nvSpPr>
        <p:spPr>
          <a:xfrm>
            <a:off x="2190750" y="3390900"/>
            <a:ext cx="3429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175" b="1" i="0">
                <a:solidFill>
                  <a:srgbClr val="F7F3E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175" b="1" i="0">
                <a:solidFill>
                  <a:srgbClr val="F7F3E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Embodied skill</a:t>
            </a:r>
            <a:endParaRPr sz="2175" b="1" i="0">
              <a:solidFill>
                <a:srgbClr val="F7F3EA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0" name="importance-copy-02"/>
          <p:cNvSpPr>
            <a:spLocks noGrp="1"/>
          </p:cNvSpPr>
          <p:nvPr/>
        </p:nvSpPr>
        <p:spPr>
          <a:xfrm>
            <a:off x="5810250" y="3409950"/>
            <a:ext cx="5715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0" i="0">
                <a:solidFill>
                  <a:srgbClr val="AAB4C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50" b="0" i="0">
                <a:solidFill>
                  <a:srgbClr val="AAB4C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Capture pressing and lifting—not only the final ink trace.</a:t>
            </a:r>
            <a:endParaRPr sz="1650" b="0" i="0">
              <a:solidFill>
                <a:srgbClr val="AAB4C8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cxnSp>
        <p:nvCxnSpPr>
          <p:cNvPr id="26" name="importance-rule-03"/>
          <p:cNvCxnSpPr/>
          <p:nvPr/>
        </p:nvCxnSpPr>
        <p:spPr>
          <a:xfrm>
            <a:off x="666750" y="5867400"/>
            <a:ext cx="10858500" cy="0"/>
          </a:xfrm>
          <a:prstGeom prst="straightConnector1">
            <a:avLst/>
          </a:prstGeom>
          <a:ln w="9525">
            <a:solidFill>
              <a:srgbClr val="33405E"/>
            </a:solidFill>
            <a:prstDash val="solid"/>
          </a:ln>
        </p:spPr>
      </p:cxnSp>
      <p:sp>
        <p:nvSpPr>
          <p:cNvPr id="12" name="importance-number-03"/>
          <p:cNvSpPr>
            <a:spLocks noGrp="1"/>
          </p:cNvSpPr>
          <p:nvPr/>
        </p:nvSpPr>
        <p:spPr>
          <a:xfrm>
            <a:off x="666750" y="4762500"/>
            <a:ext cx="1143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600" b="1" i="0">
                <a:solidFill>
                  <a:srgbClr val="8CC8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3600" b="1" i="0">
                <a:solidFill>
                  <a:srgbClr val="8CC8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03</a:t>
            </a:r>
            <a:endParaRPr sz="3600" b="1" i="0">
              <a:solidFill>
                <a:srgbClr val="8CC8F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3" name="importance-heading-03"/>
          <p:cNvSpPr>
            <a:spLocks noGrp="1"/>
          </p:cNvSpPr>
          <p:nvPr/>
        </p:nvSpPr>
        <p:spPr>
          <a:xfrm>
            <a:off x="2190750" y="4838700"/>
            <a:ext cx="3429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175" b="1" i="0">
                <a:solidFill>
                  <a:srgbClr val="F7F3E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175" b="1" i="0">
                <a:solidFill>
                  <a:srgbClr val="F7F3E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Transferable robotics</a:t>
            </a:r>
            <a:endParaRPr sz="2175" b="1" i="0">
              <a:solidFill>
                <a:srgbClr val="F7F3EA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4" name="importance-copy-03"/>
          <p:cNvSpPr>
            <a:spLocks noGrp="1"/>
          </p:cNvSpPr>
          <p:nvPr/>
        </p:nvSpPr>
        <p:spPr>
          <a:xfrm>
            <a:off x="5810250" y="4857750"/>
            <a:ext cx="5715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0" i="0">
                <a:solidFill>
                  <a:srgbClr val="AAB4C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50" b="0" i="0">
                <a:solidFill>
                  <a:srgbClr val="AAB4C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A testbed for compliant tools, soft sensing and contact control.</a:t>
            </a:r>
            <a:endParaRPr sz="1650" b="0" i="0">
              <a:solidFill>
                <a:srgbClr val="AAB4C8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5" name="page-3"/>
          <p:cNvSpPr>
            <a:spLocks noGrp="1"/>
          </p:cNvSpPr>
          <p:nvPr/>
        </p:nvSpPr>
        <p:spPr>
          <a:xfrm>
            <a:off x="11334750" y="6334125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0" i="0">
                <a:solidFill>
                  <a:srgbClr val="AAB4C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975" b="0" i="0">
                <a:solidFill>
                  <a:srgbClr val="AAB4C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03</a:t>
            </a:r>
            <a:endParaRPr sz="975" b="0" i="0">
              <a:solidFill>
                <a:srgbClr val="AAB4C8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1" name="contribution-left-field"/>
          <p:cNvSpPr>
            <a:spLocks noGrp="1"/>
          </p:cNvSpPr>
          <p:nvPr/>
        </p:nvSpPr>
        <p:spPr>
          <a:xfrm>
            <a:off x="0" y="0"/>
            <a:ext cx="3143250" cy="6858000"/>
          </a:xfrm>
          <a:prstGeom prst="rect">
            <a:avLst/>
          </a:prstGeom>
          <a:solidFill>
            <a:srgbClr val="FF6B5C"/>
          </a:solidFill>
          <a:ln w="0">
            <a:solidFill>
              <a:srgbClr val="FF6B5C"/>
            </a:solidFill>
            <a:prstDash val="solid"/>
          </a:ln>
        </p:spPr>
      </p:sp>
      <p:sp>
        <p:nvSpPr>
          <p:cNvPr id="2" name="contribution-kicker"/>
          <p:cNvSpPr>
            <a:spLocks noGrp="1"/>
          </p:cNvSpPr>
          <p:nvPr/>
        </p:nvSpPr>
        <p:spPr>
          <a:xfrm>
            <a:off x="571500" y="533400"/>
            <a:ext cx="2095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 i="0">
                <a:solidFill>
                  <a:srgbClr val="0B132B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200" b="1" i="0">
                <a:solidFill>
                  <a:srgbClr val="0B132B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PROPOSED</a:t>
            </a:r>
            <a:endParaRPr sz="1200" b="1" i="0">
              <a:solidFill>
                <a:srgbClr val="0B132B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algn="l">
              <a:defRPr sz="1200" b="1" i="0">
                <a:solidFill>
                  <a:srgbClr val="0B132B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200" b="1" i="0">
                <a:solidFill>
                  <a:srgbClr val="0B132B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CONTRIBUTION</a:t>
            </a:r>
            <a:endParaRPr sz="1200" b="1" i="0">
              <a:solidFill>
                <a:srgbClr val="0B132B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" name="contribution-title"/>
          <p:cNvSpPr>
            <a:spLocks noGrp="1"/>
          </p:cNvSpPr>
          <p:nvPr/>
        </p:nvSpPr>
        <p:spPr>
          <a:xfrm>
            <a:off x="571500" y="1809750"/>
            <a:ext cx="2238375" cy="2095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300" b="1" i="0">
                <a:solidFill>
                  <a:srgbClr val="F7F3E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3300" b="1" i="0">
                <a:solidFill>
                  <a:srgbClr val="F7F3E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The tactile loop</a:t>
            </a:r>
            <a:endParaRPr sz="3300" b="1" i="0">
              <a:solidFill>
                <a:srgbClr val="F7F3EA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algn="l">
              <a:defRPr sz="3300" b="1" i="0">
                <a:solidFill>
                  <a:srgbClr val="F7F3E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3300" b="1" i="0">
                <a:solidFill>
                  <a:srgbClr val="F7F3E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is built into</a:t>
            </a:r>
            <a:endParaRPr sz="3300" b="1" i="0">
              <a:solidFill>
                <a:srgbClr val="F7F3EA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algn="l">
              <a:defRPr sz="3300" b="1" i="0">
                <a:solidFill>
                  <a:srgbClr val="F7F3E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3300" b="1" i="0">
                <a:solidFill>
                  <a:srgbClr val="F7F3E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the brush</a:t>
            </a:r>
            <a:endParaRPr sz="3300" b="1" i="0">
              <a:solidFill>
                <a:srgbClr val="F7F3EA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cxnSp>
        <p:nvCxnSpPr>
          <p:cNvPr id="25" name="contribution-spine"/>
          <p:cNvCxnSpPr/>
          <p:nvPr/>
        </p:nvCxnSpPr>
        <p:spPr>
          <a:xfrm>
            <a:off x="4171950" y="1619250"/>
            <a:ext cx="0" cy="3714750"/>
          </a:xfrm>
          <a:prstGeom prst="straightConnector1">
            <a:avLst/>
          </a:prstGeom>
          <a:ln w="28575">
            <a:solidFill>
              <a:srgbClr val="0B132B"/>
            </a:solidFill>
            <a:prstDash val="solid"/>
          </a:ln>
        </p:spPr>
      </p:cxnSp>
      <p:sp>
        <p:nvSpPr>
          <p:cNvPr id="6" name="contribution-dot-1"/>
          <p:cNvSpPr>
            <a:spLocks noGrp="1"/>
          </p:cNvSpPr>
          <p:nvPr/>
        </p:nvSpPr>
        <p:spPr>
          <a:xfrm>
            <a:off x="3981450" y="1504950"/>
            <a:ext cx="381000" cy="381000"/>
          </a:xfrm>
          <a:prstGeom prst="ellipse">
            <a:avLst/>
          </a:prstGeom>
          <a:solidFill>
            <a:srgbClr val="0B132B"/>
          </a:solidFill>
          <a:ln w="0">
            <a:solidFill>
              <a:srgbClr val="0B132B"/>
            </a:solidFill>
            <a:prstDash val="solid"/>
          </a:ln>
        </p:spPr>
      </p:sp>
      <p:sp>
        <p:nvSpPr>
          <p:cNvPr id="7" name="contribution-number-1"/>
          <p:cNvSpPr>
            <a:spLocks noGrp="1"/>
          </p:cNvSpPr>
          <p:nvPr/>
        </p:nvSpPr>
        <p:spPr>
          <a:xfrm>
            <a:off x="3981450" y="156210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75" b="1" i="0">
                <a:solidFill>
                  <a:srgbClr val="F7F3E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275" b="1" i="0">
                <a:solidFill>
                  <a:srgbClr val="F7F3E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1</a:t>
            </a:r>
            <a:endParaRPr sz="1275" b="1" i="0">
              <a:solidFill>
                <a:srgbClr val="F7F3EA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8" name="contribution-heading-1"/>
          <p:cNvSpPr>
            <a:spLocks noGrp="1"/>
          </p:cNvSpPr>
          <p:nvPr/>
        </p:nvSpPr>
        <p:spPr>
          <a:xfrm>
            <a:off x="4762500" y="1485900"/>
            <a:ext cx="3810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025" b="1" i="0">
                <a:solidFill>
                  <a:srgbClr val="0B132B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025" b="1" i="0">
                <a:solidFill>
                  <a:srgbClr val="0B132B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Embedded sensing</a:t>
            </a:r>
            <a:endParaRPr sz="2025" b="1" i="0">
              <a:solidFill>
                <a:srgbClr val="0B132B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9" name="contribution-copy-1"/>
          <p:cNvSpPr>
            <a:spLocks noGrp="1"/>
          </p:cNvSpPr>
          <p:nvPr/>
        </p:nvSpPr>
        <p:spPr>
          <a:xfrm>
            <a:off x="4762500" y="1962150"/>
            <a:ext cx="619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0" i="0">
                <a:solidFill>
                  <a:srgbClr val="66708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50" b="0" i="0">
                <a:solidFill>
                  <a:srgbClr val="66708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Magnetic field tracks brush deformation.</a:t>
            </a:r>
            <a:endParaRPr sz="1650" b="0" i="0">
              <a:solidFill>
                <a:srgbClr val="667085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0" name="contribution-dot-2"/>
          <p:cNvSpPr>
            <a:spLocks noGrp="1"/>
          </p:cNvSpPr>
          <p:nvPr/>
        </p:nvSpPr>
        <p:spPr>
          <a:xfrm>
            <a:off x="3981450" y="3143250"/>
            <a:ext cx="381000" cy="381000"/>
          </a:xfrm>
          <a:prstGeom prst="ellipse">
            <a:avLst/>
          </a:prstGeom>
          <a:solidFill>
            <a:srgbClr val="52D6B8"/>
          </a:solidFill>
          <a:ln w="0">
            <a:solidFill>
              <a:srgbClr val="52D6B8"/>
            </a:solidFill>
            <a:prstDash val="solid"/>
          </a:ln>
        </p:spPr>
      </p:sp>
      <p:sp>
        <p:nvSpPr>
          <p:cNvPr id="11" name="contribution-number-2"/>
          <p:cNvSpPr>
            <a:spLocks noGrp="1"/>
          </p:cNvSpPr>
          <p:nvPr/>
        </p:nvSpPr>
        <p:spPr>
          <a:xfrm>
            <a:off x="3981450" y="320040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75" b="1" i="0">
                <a:solidFill>
                  <a:srgbClr val="0B132B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275" b="1" i="0">
                <a:solidFill>
                  <a:srgbClr val="0B132B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2</a:t>
            </a:r>
            <a:endParaRPr sz="1275" b="1" i="0">
              <a:solidFill>
                <a:srgbClr val="0B132B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2" name="contribution-heading-2"/>
          <p:cNvSpPr>
            <a:spLocks noGrp="1"/>
          </p:cNvSpPr>
          <p:nvPr/>
        </p:nvSpPr>
        <p:spPr>
          <a:xfrm>
            <a:off x="4762500" y="3124200"/>
            <a:ext cx="3810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025" b="1" i="0">
                <a:solidFill>
                  <a:srgbClr val="0B132B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025" b="1" i="0">
                <a:solidFill>
                  <a:srgbClr val="0B132B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Contact estimate</a:t>
            </a:r>
            <a:endParaRPr sz="2025" b="1" i="0">
              <a:solidFill>
                <a:srgbClr val="0B132B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3" name="contribution-copy-2"/>
          <p:cNvSpPr>
            <a:spLocks noGrp="1"/>
          </p:cNvSpPr>
          <p:nvPr/>
        </p:nvSpPr>
        <p:spPr>
          <a:xfrm>
            <a:off x="4762500" y="3600450"/>
            <a:ext cx="619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0" i="0">
                <a:solidFill>
                  <a:srgbClr val="66708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50" b="0" i="0">
                <a:solidFill>
                  <a:srgbClr val="66708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Calibrated ΔB becomes a contact target.</a:t>
            </a:r>
            <a:endParaRPr sz="1650" b="0" i="0">
              <a:solidFill>
                <a:srgbClr val="667085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4" name="contribution-dot-3"/>
          <p:cNvSpPr>
            <a:spLocks noGrp="1"/>
          </p:cNvSpPr>
          <p:nvPr/>
        </p:nvSpPr>
        <p:spPr>
          <a:xfrm>
            <a:off x="3981450" y="4781550"/>
            <a:ext cx="381000" cy="381000"/>
          </a:xfrm>
          <a:prstGeom prst="ellipse">
            <a:avLst/>
          </a:prstGeom>
          <a:solidFill>
            <a:srgbClr val="FF6B5C"/>
          </a:solidFill>
          <a:ln w="0">
            <a:solidFill>
              <a:srgbClr val="FF6B5C"/>
            </a:solidFill>
            <a:prstDash val="solid"/>
          </a:ln>
        </p:spPr>
      </p:sp>
      <p:sp>
        <p:nvSpPr>
          <p:cNvPr id="15" name="contribution-number-3"/>
          <p:cNvSpPr>
            <a:spLocks noGrp="1"/>
          </p:cNvSpPr>
          <p:nvPr/>
        </p:nvSpPr>
        <p:spPr>
          <a:xfrm>
            <a:off x="3981450" y="483870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75" b="1" i="0">
                <a:solidFill>
                  <a:srgbClr val="0B132B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275" b="1" i="0">
                <a:solidFill>
                  <a:srgbClr val="0B132B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3</a:t>
            </a:r>
            <a:endParaRPr sz="1275" b="1" i="0">
              <a:solidFill>
                <a:srgbClr val="0B132B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6" name="contribution-heading-3"/>
          <p:cNvSpPr>
            <a:spLocks noGrp="1"/>
          </p:cNvSpPr>
          <p:nvPr/>
        </p:nvSpPr>
        <p:spPr>
          <a:xfrm>
            <a:off x="4762500" y="4762500"/>
            <a:ext cx="3810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025" b="1" i="0">
                <a:solidFill>
                  <a:srgbClr val="0B132B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025" b="1" i="0">
                <a:solidFill>
                  <a:srgbClr val="0B132B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Tactile feedback</a:t>
            </a:r>
            <a:endParaRPr sz="2025" b="1" i="0">
              <a:solidFill>
                <a:srgbClr val="0B132B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7" name="contribution-copy-3"/>
          <p:cNvSpPr>
            <a:spLocks noGrp="1"/>
          </p:cNvSpPr>
          <p:nvPr/>
        </p:nvSpPr>
        <p:spPr>
          <a:xfrm>
            <a:off x="4762500" y="5238750"/>
            <a:ext cx="619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0" i="0">
                <a:solidFill>
                  <a:srgbClr val="66708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50" b="0" i="0">
                <a:solidFill>
                  <a:srgbClr val="66708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Vertical motion adapts during execution.</a:t>
            </a:r>
            <a:endParaRPr sz="1650" b="0" i="0">
              <a:solidFill>
                <a:srgbClr val="667085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8" name="contribution-strokeplan-band"/>
          <p:cNvSpPr>
            <a:spLocks noGrp="1"/>
          </p:cNvSpPr>
          <p:nvPr/>
        </p:nvSpPr>
        <p:spPr>
          <a:xfrm>
            <a:off x="4762500" y="5943600"/>
            <a:ext cx="6477000" cy="457200"/>
          </a:xfrm>
          <a:prstGeom prst="rect">
            <a:avLst/>
          </a:prstGeom>
          <a:solidFill>
            <a:srgbClr val="52D6B8"/>
          </a:solidFill>
          <a:ln w="0">
            <a:solidFill>
              <a:srgbClr val="52D6B8"/>
            </a:solidFill>
            <a:prstDash val="solid"/>
          </a:ln>
        </p:spPr>
      </p:sp>
      <p:sp>
        <p:nvSpPr>
          <p:cNvPr id="19" name="contribution-strokeplan"/>
          <p:cNvSpPr>
            <a:spLocks noGrp="1"/>
          </p:cNvSpPr>
          <p:nvPr/>
        </p:nvSpPr>
        <p:spPr>
          <a:xfrm>
            <a:off x="4972050" y="6048375"/>
            <a:ext cx="60579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1" i="0">
                <a:solidFill>
                  <a:srgbClr val="0B132B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425" b="1" i="0">
                <a:solidFill>
                  <a:srgbClr val="0B132B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StrokePlan links demonstration data to robot execution.</a:t>
            </a:r>
            <a:endParaRPr sz="1425" b="1" i="0">
              <a:solidFill>
                <a:srgbClr val="0B132B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0" name="page-4"/>
          <p:cNvSpPr>
            <a:spLocks noGrp="1"/>
          </p:cNvSpPr>
          <p:nvPr/>
        </p:nvSpPr>
        <p:spPr>
          <a:xfrm>
            <a:off x="11334750" y="6334125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0" i="0">
                <a:solidFill>
                  <a:srgbClr val="66708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975" b="0" i="0">
                <a:solidFill>
                  <a:srgbClr val="66708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04</a:t>
            </a:r>
            <a:endParaRPr sz="975" b="0" i="0">
              <a:solidFill>
                <a:srgbClr val="667085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progress-now-field"/>
          <p:cNvSpPr>
            <a:spLocks noGrp="1"/>
          </p:cNvSpPr>
          <p:nvPr/>
        </p:nvSpPr>
        <p:spPr>
          <a:xfrm>
            <a:off x="0" y="-27305"/>
            <a:ext cx="3714750" cy="6858000"/>
          </a:xfrm>
          <a:prstGeom prst="rect">
            <a:avLst/>
          </a:prstGeom>
          <a:solidFill>
            <a:srgbClr val="52D6B8"/>
          </a:solidFill>
          <a:ln w="0">
            <a:solidFill>
              <a:srgbClr val="52D6B8"/>
            </a:solidFill>
            <a:prstDash val="solid"/>
          </a:ln>
        </p:spPr>
      </p:sp>
      <p:sp>
        <p:nvSpPr>
          <p:cNvPr id="2" name="progress-kicker"/>
          <p:cNvSpPr>
            <a:spLocks noGrp="1"/>
          </p:cNvSpPr>
          <p:nvPr/>
        </p:nvSpPr>
        <p:spPr>
          <a:xfrm>
            <a:off x="695325" y="2686050"/>
            <a:ext cx="228600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 i="0">
                <a:solidFill>
                  <a:srgbClr val="0B132B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800" b="1" i="0">
                <a:solidFill>
                  <a:srgbClr val="0B132B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CURRENT</a:t>
            </a:r>
            <a:endParaRPr sz="2800" b="1" i="0">
              <a:solidFill>
                <a:srgbClr val="0B132B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algn="l">
              <a:defRPr sz="1200" b="1" i="0">
                <a:solidFill>
                  <a:srgbClr val="0B132B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800" b="1" i="0">
                <a:solidFill>
                  <a:srgbClr val="0B132B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PROGRESS</a:t>
            </a:r>
            <a:endParaRPr sz="2800" b="1" i="0">
              <a:solidFill>
                <a:srgbClr val="0B132B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5" name="progress-accent-1"/>
          <p:cNvSpPr>
            <a:spLocks noGrp="1"/>
          </p:cNvSpPr>
          <p:nvPr/>
        </p:nvSpPr>
        <p:spPr>
          <a:xfrm>
            <a:off x="4305300" y="1028700"/>
            <a:ext cx="114300" cy="857250"/>
          </a:xfrm>
          <a:prstGeom prst="rect">
            <a:avLst/>
          </a:prstGeom>
          <a:solidFill>
            <a:srgbClr val="FF6B5C"/>
          </a:solidFill>
          <a:ln w="0">
            <a:solidFill>
              <a:srgbClr val="FF6B5C"/>
            </a:solidFill>
            <a:prstDash val="solid"/>
          </a:ln>
        </p:spPr>
      </p:sp>
      <p:sp>
        <p:nvSpPr>
          <p:cNvPr id="6" name="progress-heading-1"/>
          <p:cNvSpPr>
            <a:spLocks noGrp="1"/>
          </p:cNvSpPr>
          <p:nvPr/>
        </p:nvSpPr>
        <p:spPr>
          <a:xfrm>
            <a:off x="4762500" y="990600"/>
            <a:ext cx="238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100" b="1" i="0">
                <a:solidFill>
                  <a:srgbClr val="F7F3E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100" b="1" i="0">
                <a:solidFill>
                  <a:srgbClr val="F7F3E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Sensing</a:t>
            </a:r>
            <a:endParaRPr sz="2100" b="1" i="0">
              <a:solidFill>
                <a:srgbClr val="F7F3EA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7" name="progress-copy-1"/>
          <p:cNvSpPr>
            <a:spLocks noGrp="1"/>
          </p:cNvSpPr>
          <p:nvPr/>
        </p:nvSpPr>
        <p:spPr>
          <a:xfrm>
            <a:off x="7334250" y="1009650"/>
            <a:ext cx="4000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 i="0">
                <a:solidFill>
                  <a:srgbClr val="AAB4C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575" b="0" i="0">
                <a:solidFill>
                  <a:srgbClr val="AAB4C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Live three-axis magnetic readout and USB recording at approximately 100 Hz.</a:t>
            </a:r>
            <a:endParaRPr sz="1575" b="0" i="0">
              <a:solidFill>
                <a:srgbClr val="AAB4C8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cxnSp>
        <p:nvCxnSpPr>
          <p:cNvPr id="26" name="progress-rule-1"/>
          <p:cNvCxnSpPr/>
          <p:nvPr/>
        </p:nvCxnSpPr>
        <p:spPr>
          <a:xfrm>
            <a:off x="4305300" y="2209800"/>
            <a:ext cx="7029450" cy="0"/>
          </a:xfrm>
          <a:prstGeom prst="straightConnector1">
            <a:avLst/>
          </a:prstGeom>
          <a:ln w="9525">
            <a:solidFill>
              <a:srgbClr val="33405E"/>
            </a:solidFill>
            <a:prstDash val="solid"/>
          </a:ln>
        </p:spPr>
      </p:cxnSp>
      <p:sp>
        <p:nvSpPr>
          <p:cNvPr id="9" name="progress-accent-2"/>
          <p:cNvSpPr>
            <a:spLocks noGrp="1"/>
          </p:cNvSpPr>
          <p:nvPr/>
        </p:nvSpPr>
        <p:spPr>
          <a:xfrm>
            <a:off x="4305300" y="2705100"/>
            <a:ext cx="114300" cy="857250"/>
          </a:xfrm>
          <a:prstGeom prst="rect">
            <a:avLst/>
          </a:prstGeom>
          <a:solidFill>
            <a:srgbClr val="52D6B8"/>
          </a:solidFill>
          <a:ln w="0">
            <a:solidFill>
              <a:srgbClr val="52D6B8"/>
            </a:solidFill>
            <a:prstDash val="solid"/>
          </a:ln>
        </p:spPr>
      </p:sp>
      <p:sp>
        <p:nvSpPr>
          <p:cNvPr id="10" name="progress-heading-2"/>
          <p:cNvSpPr>
            <a:spLocks noGrp="1"/>
          </p:cNvSpPr>
          <p:nvPr/>
        </p:nvSpPr>
        <p:spPr>
          <a:xfrm>
            <a:off x="4762500" y="2667000"/>
            <a:ext cx="238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100" b="1" i="0">
                <a:solidFill>
                  <a:srgbClr val="F7F3E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100" b="1" i="0">
                <a:solidFill>
                  <a:srgbClr val="F7F3E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Data</a:t>
            </a:r>
            <a:endParaRPr sz="2100" b="1" i="0">
              <a:solidFill>
                <a:srgbClr val="F7F3EA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1" name="progress-copy-2"/>
          <p:cNvSpPr>
            <a:spLocks noGrp="1"/>
          </p:cNvSpPr>
          <p:nvPr/>
        </p:nvSpPr>
        <p:spPr>
          <a:xfrm>
            <a:off x="7334250" y="2686050"/>
            <a:ext cx="4000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 i="0">
                <a:solidFill>
                  <a:srgbClr val="AAB4C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575" b="0" i="0">
                <a:solidFill>
                  <a:srgbClr val="AAB4C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A preliminary V0 dataset has been collected and checked for timing.</a:t>
            </a:r>
            <a:endParaRPr sz="1575" b="0" i="0">
              <a:solidFill>
                <a:srgbClr val="AAB4C8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cxnSp>
        <p:nvCxnSpPr>
          <p:cNvPr id="30" name="progress-rule-2"/>
          <p:cNvCxnSpPr/>
          <p:nvPr/>
        </p:nvCxnSpPr>
        <p:spPr>
          <a:xfrm>
            <a:off x="4305300" y="3886200"/>
            <a:ext cx="7029450" cy="0"/>
          </a:xfrm>
          <a:prstGeom prst="straightConnector1">
            <a:avLst/>
          </a:prstGeom>
          <a:ln w="9525">
            <a:solidFill>
              <a:srgbClr val="33405E"/>
            </a:solidFill>
            <a:prstDash val="solid"/>
          </a:ln>
        </p:spPr>
      </p:cxnSp>
      <p:sp>
        <p:nvSpPr>
          <p:cNvPr id="13" name="progress-accent-3"/>
          <p:cNvSpPr>
            <a:spLocks noGrp="1"/>
          </p:cNvSpPr>
          <p:nvPr/>
        </p:nvSpPr>
        <p:spPr>
          <a:xfrm>
            <a:off x="4305300" y="4381500"/>
            <a:ext cx="114300" cy="857250"/>
          </a:xfrm>
          <a:prstGeom prst="rect">
            <a:avLst/>
          </a:prstGeom>
          <a:solidFill>
            <a:srgbClr val="8CC8FF"/>
          </a:solidFill>
          <a:ln w="0">
            <a:solidFill>
              <a:srgbClr val="8CC8FF"/>
            </a:solidFill>
            <a:prstDash val="solid"/>
          </a:ln>
        </p:spPr>
      </p:sp>
      <p:sp>
        <p:nvSpPr>
          <p:cNvPr id="14" name="progress-heading-3"/>
          <p:cNvSpPr>
            <a:spLocks noGrp="1"/>
          </p:cNvSpPr>
          <p:nvPr/>
        </p:nvSpPr>
        <p:spPr>
          <a:xfrm>
            <a:off x="4762500" y="4343400"/>
            <a:ext cx="238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100" b="1" i="0">
                <a:solidFill>
                  <a:srgbClr val="F7F3E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100" b="1" i="0">
                <a:solidFill>
                  <a:srgbClr val="F7F3E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Execution</a:t>
            </a:r>
            <a:endParaRPr sz="2100" b="1" i="0">
              <a:solidFill>
                <a:srgbClr val="F7F3EA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5" name="progress-copy-3"/>
          <p:cNvSpPr>
            <a:spLocks noGrp="1"/>
          </p:cNvSpPr>
          <p:nvPr/>
        </p:nvSpPr>
        <p:spPr>
          <a:xfrm>
            <a:off x="7334250" y="4362450"/>
            <a:ext cx="4000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 i="0">
                <a:solidFill>
                  <a:srgbClr val="AAB4C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575" b="0" i="0">
                <a:solidFill>
                  <a:srgbClr val="AAB4C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Open-loop robot writing and the control/runtime software are available.</a:t>
            </a:r>
            <a:endParaRPr sz="1575" b="0" i="0">
              <a:solidFill>
                <a:srgbClr val="AAB4C8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6" name="progress-boundary-band"/>
          <p:cNvSpPr>
            <a:spLocks noGrp="1"/>
          </p:cNvSpPr>
          <p:nvPr/>
        </p:nvSpPr>
        <p:spPr>
          <a:xfrm>
            <a:off x="4305300" y="5943600"/>
            <a:ext cx="7029450" cy="457200"/>
          </a:xfrm>
          <a:prstGeom prst="rect">
            <a:avLst/>
          </a:prstGeom>
          <a:solidFill>
            <a:srgbClr val="FF6B5C"/>
          </a:solidFill>
          <a:ln w="0">
            <a:solidFill>
              <a:srgbClr val="FF6B5C"/>
            </a:solidFill>
            <a:prstDash val="solid"/>
          </a:ln>
        </p:spPr>
      </p:sp>
      <p:sp>
        <p:nvSpPr>
          <p:cNvPr id="17" name="progress-boundary"/>
          <p:cNvSpPr>
            <a:spLocks noGrp="1"/>
          </p:cNvSpPr>
          <p:nvPr/>
        </p:nvSpPr>
        <p:spPr>
          <a:xfrm>
            <a:off x="4514850" y="6048375"/>
            <a:ext cx="66103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 i="0">
                <a:solidFill>
                  <a:srgbClr val="0B132B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350" b="1" i="0">
                <a:solidFill>
                  <a:srgbClr val="0B132B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Still to prove: an assembled brush driving a real robot closed loop.</a:t>
            </a:r>
            <a:endParaRPr sz="1350" b="1" i="0">
              <a:solidFill>
                <a:srgbClr val="0B132B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8" name="page-5"/>
          <p:cNvSpPr>
            <a:spLocks noGrp="1"/>
          </p:cNvSpPr>
          <p:nvPr/>
        </p:nvSpPr>
        <p:spPr>
          <a:xfrm>
            <a:off x="11334750" y="6334125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0" i="0">
                <a:solidFill>
                  <a:srgbClr val="AAB4C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975" b="0" i="0">
                <a:solidFill>
                  <a:srgbClr val="AAB4C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05</a:t>
            </a:r>
            <a:endParaRPr sz="975" b="0" i="0">
              <a:solidFill>
                <a:srgbClr val="AAB4C8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" name="next-kicker"/>
          <p:cNvSpPr>
            <a:spLocks noGrp="1"/>
          </p:cNvSpPr>
          <p:nvPr/>
        </p:nvSpPr>
        <p:spPr>
          <a:xfrm>
            <a:off x="666750" y="4381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 i="0">
                <a:solidFill>
                  <a:srgbClr val="FF6B5C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125" b="1" i="0">
                <a:solidFill>
                  <a:srgbClr val="FF6B5C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MY NEXT WORK</a:t>
            </a:r>
            <a:endParaRPr sz="1125" b="1" i="0">
              <a:solidFill>
                <a:srgbClr val="FF6B5C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" name="next-title"/>
          <p:cNvSpPr>
            <a:spLocks noGrp="1"/>
          </p:cNvSpPr>
          <p:nvPr/>
        </p:nvSpPr>
        <p:spPr>
          <a:xfrm>
            <a:off x="666750" y="914400"/>
            <a:ext cx="10668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225" b="1" i="0">
                <a:solidFill>
                  <a:srgbClr val="0B132B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3225" b="1" i="0">
                <a:solidFill>
                  <a:srgbClr val="0B132B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Build the brush. Validate the signal. Prove the loop.</a:t>
            </a:r>
            <a:endParaRPr sz="3225" b="1" i="0">
              <a:solidFill>
                <a:srgbClr val="0B132B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" name="next-goal"/>
          <p:cNvSpPr>
            <a:spLocks noGrp="1"/>
          </p:cNvSpPr>
          <p:nvPr/>
        </p:nvSpPr>
        <p:spPr>
          <a:xfrm>
            <a:off x="666750" y="1733550"/>
            <a:ext cx="857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0" i="0">
                <a:solidFill>
                  <a:srgbClr val="66708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50" b="0" i="0">
                <a:solidFill>
                  <a:srgbClr val="66708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Goal: one repeatable real-world closed-loop writing comparison.</a:t>
            </a:r>
            <a:endParaRPr sz="1650" b="0" i="0">
              <a:solidFill>
                <a:srgbClr val="667085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cxnSp>
        <p:nvCxnSpPr>
          <p:cNvPr id="21" name="next-spine"/>
          <p:cNvCxnSpPr/>
          <p:nvPr/>
        </p:nvCxnSpPr>
        <p:spPr>
          <a:xfrm>
            <a:off x="1581150" y="2533650"/>
            <a:ext cx="0" cy="3333750"/>
          </a:xfrm>
          <a:prstGeom prst="straightConnector1">
            <a:avLst/>
          </a:prstGeom>
          <a:ln w="28575">
            <a:solidFill>
              <a:srgbClr val="0B132B"/>
            </a:solidFill>
            <a:prstDash val="solid"/>
          </a:ln>
        </p:spPr>
      </p:cxnSp>
      <p:sp>
        <p:nvSpPr>
          <p:cNvPr id="5" name="next-dot-01"/>
          <p:cNvSpPr>
            <a:spLocks noGrp="1"/>
          </p:cNvSpPr>
          <p:nvPr/>
        </p:nvSpPr>
        <p:spPr>
          <a:xfrm>
            <a:off x="1314450" y="2400300"/>
            <a:ext cx="533400" cy="533400"/>
          </a:xfrm>
          <a:prstGeom prst="ellipse">
            <a:avLst/>
          </a:prstGeom>
          <a:solidFill>
            <a:srgbClr val="FF6B5C"/>
          </a:solidFill>
          <a:ln w="0">
            <a:solidFill>
              <a:srgbClr val="FF6B5C"/>
            </a:solidFill>
            <a:prstDash val="solid"/>
          </a:ln>
        </p:spPr>
      </p:sp>
      <p:sp>
        <p:nvSpPr>
          <p:cNvPr id="6" name="next-number-01"/>
          <p:cNvSpPr>
            <a:spLocks noGrp="1"/>
          </p:cNvSpPr>
          <p:nvPr/>
        </p:nvSpPr>
        <p:spPr>
          <a:xfrm>
            <a:off x="1314450" y="2533650"/>
            <a:ext cx="5334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00" b="1" i="0">
                <a:solidFill>
                  <a:srgbClr val="0B132B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200" b="1" i="0">
                <a:solidFill>
                  <a:srgbClr val="0B132B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01</a:t>
            </a:r>
            <a:endParaRPr sz="1200" b="1" i="0">
              <a:solidFill>
                <a:srgbClr val="0B132B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7" name="next-heading-01"/>
          <p:cNvSpPr>
            <a:spLocks noGrp="1"/>
          </p:cNvSpPr>
          <p:nvPr/>
        </p:nvSpPr>
        <p:spPr>
          <a:xfrm>
            <a:off x="2381250" y="2352675"/>
            <a:ext cx="3714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025" b="1" i="0">
                <a:solidFill>
                  <a:srgbClr val="0B132B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025" b="1" i="0">
                <a:solidFill>
                  <a:srgbClr val="0B132B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Integrate the sensor</a:t>
            </a:r>
            <a:endParaRPr sz="2025" b="1" i="0">
              <a:solidFill>
                <a:srgbClr val="0B132B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8" name="next-copy-01"/>
          <p:cNvSpPr>
            <a:spLocks noGrp="1"/>
          </p:cNvSpPr>
          <p:nvPr/>
        </p:nvSpPr>
        <p:spPr>
          <a:xfrm>
            <a:off x="6191250" y="2362200"/>
            <a:ext cx="5048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 i="0">
                <a:solidFill>
                  <a:srgbClr val="66708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575" b="0" i="0">
                <a:solidFill>
                  <a:srgbClr val="66708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Dry-fit, bond and record insertion geometry and cable routing.</a:t>
            </a:r>
            <a:endParaRPr sz="1575" b="0" i="0">
              <a:solidFill>
                <a:srgbClr val="667085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9" name="next-dot-02"/>
          <p:cNvSpPr>
            <a:spLocks noGrp="1"/>
          </p:cNvSpPr>
          <p:nvPr/>
        </p:nvSpPr>
        <p:spPr>
          <a:xfrm>
            <a:off x="1314450" y="3790950"/>
            <a:ext cx="533400" cy="533400"/>
          </a:xfrm>
          <a:prstGeom prst="ellipse">
            <a:avLst/>
          </a:prstGeom>
          <a:solidFill>
            <a:srgbClr val="52D6B8"/>
          </a:solidFill>
          <a:ln w="0">
            <a:solidFill>
              <a:srgbClr val="52D6B8"/>
            </a:solidFill>
            <a:prstDash val="solid"/>
          </a:ln>
        </p:spPr>
      </p:sp>
      <p:sp>
        <p:nvSpPr>
          <p:cNvPr id="10" name="next-number-02"/>
          <p:cNvSpPr>
            <a:spLocks noGrp="1"/>
          </p:cNvSpPr>
          <p:nvPr/>
        </p:nvSpPr>
        <p:spPr>
          <a:xfrm>
            <a:off x="1314450" y="3924300"/>
            <a:ext cx="5334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00" b="1" i="0">
                <a:solidFill>
                  <a:srgbClr val="0B132B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200" b="1" i="0">
                <a:solidFill>
                  <a:srgbClr val="0B132B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02</a:t>
            </a:r>
            <a:endParaRPr sz="1200" b="1" i="0">
              <a:solidFill>
                <a:srgbClr val="0B132B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1" name="next-heading-02"/>
          <p:cNvSpPr>
            <a:spLocks noGrp="1"/>
          </p:cNvSpPr>
          <p:nvPr/>
        </p:nvSpPr>
        <p:spPr>
          <a:xfrm>
            <a:off x="2381250" y="3743325"/>
            <a:ext cx="3714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025" b="1" i="0">
                <a:solidFill>
                  <a:srgbClr val="0B132B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025" b="1" i="0">
                <a:solidFill>
                  <a:srgbClr val="0B132B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Characterise the signal</a:t>
            </a:r>
            <a:endParaRPr sz="2025" b="1" i="0">
              <a:solidFill>
                <a:srgbClr val="0B132B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2" name="next-copy-02"/>
          <p:cNvSpPr>
            <a:spLocks noGrp="1"/>
          </p:cNvSpPr>
          <p:nvPr/>
        </p:nvSpPr>
        <p:spPr>
          <a:xfrm>
            <a:off x="6191250" y="3752850"/>
            <a:ext cx="5048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 i="0">
                <a:solidFill>
                  <a:srgbClr val="66708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575" b="0" i="0">
                <a:solidFill>
                  <a:srgbClr val="66708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Test noise, response, return-to-zero, hysteresis and lateral drag.</a:t>
            </a:r>
            <a:endParaRPr sz="1575" b="0" i="0">
              <a:solidFill>
                <a:srgbClr val="667085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3" name="next-dot-03"/>
          <p:cNvSpPr>
            <a:spLocks noGrp="1"/>
          </p:cNvSpPr>
          <p:nvPr/>
        </p:nvSpPr>
        <p:spPr>
          <a:xfrm>
            <a:off x="1314450" y="5181600"/>
            <a:ext cx="533400" cy="533400"/>
          </a:xfrm>
          <a:prstGeom prst="ellipse">
            <a:avLst/>
          </a:prstGeom>
          <a:solidFill>
            <a:srgbClr val="0B132B"/>
          </a:solidFill>
          <a:ln w="0">
            <a:solidFill>
              <a:srgbClr val="0B132B"/>
            </a:solidFill>
            <a:prstDash val="solid"/>
          </a:ln>
        </p:spPr>
      </p:sp>
      <p:sp>
        <p:nvSpPr>
          <p:cNvPr id="14" name="next-number-03"/>
          <p:cNvSpPr>
            <a:spLocks noGrp="1"/>
          </p:cNvSpPr>
          <p:nvPr/>
        </p:nvSpPr>
        <p:spPr>
          <a:xfrm>
            <a:off x="1314450" y="5314950"/>
            <a:ext cx="5334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00" b="1" i="0">
                <a:solidFill>
                  <a:srgbClr val="F7F3E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200" b="1" i="0">
                <a:solidFill>
                  <a:srgbClr val="F7F3E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03</a:t>
            </a:r>
            <a:endParaRPr sz="1200" b="1" i="0">
              <a:solidFill>
                <a:srgbClr val="F7F3EA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5" name="next-heading-03"/>
          <p:cNvSpPr>
            <a:spLocks noGrp="1"/>
          </p:cNvSpPr>
          <p:nvPr/>
        </p:nvSpPr>
        <p:spPr>
          <a:xfrm>
            <a:off x="2381250" y="5133975"/>
            <a:ext cx="3714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025" b="1" i="0">
                <a:solidFill>
                  <a:srgbClr val="0B132B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025" b="1" i="0">
                <a:solidFill>
                  <a:srgbClr val="0B132B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Close the loop</a:t>
            </a:r>
            <a:endParaRPr sz="2025" b="1" i="0">
              <a:solidFill>
                <a:srgbClr val="0B132B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6" name="next-copy-03"/>
          <p:cNvSpPr>
            <a:spLocks noGrp="1"/>
          </p:cNvSpPr>
          <p:nvPr/>
        </p:nvSpPr>
        <p:spPr>
          <a:xfrm>
            <a:off x="6191250" y="5143500"/>
            <a:ext cx="5048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 i="0">
                <a:solidFill>
                  <a:srgbClr val="66708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575" b="0" i="0">
                <a:solidFill>
                  <a:srgbClr val="66708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Calibrate ΔB to depth, synchronise ΔB + XY, then compare fixed-z and feedback.</a:t>
            </a:r>
            <a:endParaRPr sz="1575" b="0" i="0">
              <a:solidFill>
                <a:srgbClr val="667085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7" name="page-6"/>
          <p:cNvSpPr>
            <a:spLocks noGrp="1"/>
          </p:cNvSpPr>
          <p:nvPr/>
        </p:nvSpPr>
        <p:spPr>
          <a:xfrm>
            <a:off x="11334750" y="6334125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0" i="0">
                <a:solidFill>
                  <a:srgbClr val="66708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975" b="0" i="0">
                <a:solidFill>
                  <a:srgbClr val="66708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06</a:t>
            </a:r>
            <a:endParaRPr sz="975" b="0" i="0">
              <a:solidFill>
                <a:srgbClr val="667085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6B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close-side-field"/>
          <p:cNvSpPr>
            <a:spLocks noGrp="1"/>
          </p:cNvSpPr>
          <p:nvPr/>
        </p:nvSpPr>
        <p:spPr>
          <a:xfrm>
            <a:off x="0" y="0"/>
            <a:ext cx="2952750" cy="6858000"/>
          </a:xfrm>
          <a:prstGeom prst="rect">
            <a:avLst/>
          </a:prstGeom>
          <a:solidFill>
            <a:srgbClr val="0B132B"/>
          </a:solidFill>
          <a:ln w="0">
            <a:solidFill>
              <a:srgbClr val="0B132B"/>
            </a:solidFill>
            <a:prstDash val="solid"/>
          </a:ln>
        </p:spPr>
      </p:sp>
      <p:sp>
        <p:nvSpPr>
          <p:cNvPr id="2" name="close-kicker"/>
          <p:cNvSpPr>
            <a:spLocks noGrp="1"/>
          </p:cNvSpPr>
          <p:nvPr/>
        </p:nvSpPr>
        <p:spPr>
          <a:xfrm>
            <a:off x="552450" y="571500"/>
            <a:ext cx="1809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 i="0">
                <a:solidFill>
                  <a:srgbClr val="52D6B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275" b="1" i="0">
                <a:solidFill>
                  <a:srgbClr val="52D6B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PROPOSAL</a:t>
            </a:r>
            <a:endParaRPr sz="1275" b="1" i="0">
              <a:solidFill>
                <a:srgbClr val="52D6B8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algn="l">
              <a:defRPr sz="1275" b="1" i="0">
                <a:solidFill>
                  <a:srgbClr val="52D6B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275" b="1" i="0">
                <a:solidFill>
                  <a:srgbClr val="52D6B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FOCUS</a:t>
            </a:r>
            <a:endParaRPr sz="1275" b="1" i="0">
              <a:solidFill>
                <a:srgbClr val="52D6B8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" name="close-side-title"/>
          <p:cNvSpPr>
            <a:spLocks noGrp="1"/>
          </p:cNvSpPr>
          <p:nvPr/>
        </p:nvSpPr>
        <p:spPr>
          <a:xfrm>
            <a:off x="495300" y="2362200"/>
            <a:ext cx="2381250" cy="1952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00" b="1" i="0">
                <a:solidFill>
                  <a:srgbClr val="F7F3E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700" b="1" i="0">
                <a:solidFill>
                  <a:srgbClr val="F7F3E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ONE</a:t>
            </a:r>
            <a:endParaRPr sz="2700" b="1" i="0">
              <a:solidFill>
                <a:srgbClr val="F7F3EA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algn="l">
              <a:defRPr sz="2700" b="1" i="0">
                <a:solidFill>
                  <a:srgbClr val="F7F3E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700" b="1" i="0">
                <a:solidFill>
                  <a:srgbClr val="F7F3E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CREDIBLE</a:t>
            </a:r>
            <a:endParaRPr sz="2700" b="1" i="0">
              <a:solidFill>
                <a:srgbClr val="F7F3EA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algn="l">
              <a:defRPr sz="2700" b="1" i="0">
                <a:solidFill>
                  <a:srgbClr val="F7F3E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700" b="1" i="0">
                <a:solidFill>
                  <a:srgbClr val="F7F3E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RESULT</a:t>
            </a:r>
            <a:endParaRPr sz="2700" b="1" i="0">
              <a:solidFill>
                <a:srgbClr val="F7F3EA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4" name="close-core-label"/>
          <p:cNvSpPr>
            <a:spLocks noGrp="1"/>
          </p:cNvSpPr>
          <p:nvPr/>
        </p:nvSpPr>
        <p:spPr>
          <a:xfrm>
            <a:off x="3600450" y="609600"/>
            <a:ext cx="3810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 i="0">
                <a:solidFill>
                  <a:srgbClr val="0B132B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800" b="1" i="0">
                <a:solidFill>
                  <a:srgbClr val="0B132B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Core deliverable</a:t>
            </a:r>
            <a:endParaRPr sz="1800" b="1" i="0">
              <a:solidFill>
                <a:srgbClr val="0B132B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5" name="close-core-copy"/>
          <p:cNvSpPr>
            <a:spLocks noGrp="1"/>
          </p:cNvSpPr>
          <p:nvPr/>
        </p:nvSpPr>
        <p:spPr>
          <a:xfrm>
            <a:off x="4007485" y="2305050"/>
            <a:ext cx="7620000" cy="1771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150" b="1" i="0">
                <a:solidFill>
                  <a:srgbClr val="0B132B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3150" b="1" i="0">
                <a:solidFill>
                  <a:srgbClr val="0B132B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An assembled tactile brush,</a:t>
            </a:r>
            <a:endParaRPr sz="3150" b="1" i="0">
              <a:solidFill>
                <a:srgbClr val="0B132B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algn="l">
              <a:defRPr sz="3150" b="1" i="0">
                <a:solidFill>
                  <a:srgbClr val="0B132B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3150" b="1" i="0">
                <a:solidFill>
                  <a:srgbClr val="0B132B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a calibrated signal and</a:t>
            </a:r>
            <a:endParaRPr sz="3150" b="1" i="0">
              <a:solidFill>
                <a:srgbClr val="0B132B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algn="l">
              <a:defRPr sz="3150" b="1" i="0">
                <a:solidFill>
                  <a:srgbClr val="0B132B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3150" b="1" i="0">
                <a:solidFill>
                  <a:srgbClr val="0B132B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feedback-controlled writing.</a:t>
            </a:r>
            <a:endParaRPr sz="3150" b="1" i="0">
              <a:solidFill>
                <a:srgbClr val="0B132B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1" name="close-learning-band"/>
          <p:cNvSpPr>
            <a:spLocks noGrp="1"/>
          </p:cNvSpPr>
          <p:nvPr/>
        </p:nvSpPr>
        <p:spPr>
          <a:xfrm>
            <a:off x="3600450" y="5410200"/>
            <a:ext cx="7620000" cy="647700"/>
          </a:xfrm>
          <a:prstGeom prst="rect">
            <a:avLst/>
          </a:prstGeom>
          <a:solidFill>
            <a:srgbClr val="52D6B8"/>
          </a:solidFill>
          <a:ln w="0">
            <a:solidFill>
              <a:srgbClr val="52D6B8"/>
            </a:solidFill>
            <a:prstDash val="solid"/>
          </a:ln>
        </p:spPr>
      </p:sp>
      <p:sp>
        <p:nvSpPr>
          <p:cNvPr id="12" name="close-learning-copy"/>
          <p:cNvSpPr>
            <a:spLocks noGrp="1"/>
          </p:cNvSpPr>
          <p:nvPr/>
        </p:nvSpPr>
        <p:spPr>
          <a:xfrm>
            <a:off x="3829050" y="5591175"/>
            <a:ext cx="7162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 i="0">
                <a:solidFill>
                  <a:srgbClr val="0B132B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575" b="1" i="0">
                <a:solidFill>
                  <a:srgbClr val="0B132B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Learning-based generalisation comes after the physical loop is proven.</a:t>
            </a:r>
            <a:endParaRPr sz="1575" b="1" i="0">
              <a:solidFill>
                <a:srgbClr val="0B132B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3" name="page-7"/>
          <p:cNvSpPr>
            <a:spLocks noGrp="1"/>
          </p:cNvSpPr>
          <p:nvPr/>
        </p:nvSpPr>
        <p:spPr>
          <a:xfrm>
            <a:off x="11334750" y="6334125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0" i="0">
                <a:solidFill>
                  <a:srgbClr val="66708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975" b="0" i="0">
                <a:solidFill>
                  <a:srgbClr val="66708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07</a:t>
            </a:r>
            <a:endParaRPr sz="975" b="0" i="0">
              <a:solidFill>
                <a:srgbClr val="667085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a0a03492afb7f025fd5d5be748cf815a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960235" y="0"/>
            <a:ext cx="3857625" cy="6858000"/>
          </a:xfrm>
          <a:prstGeom prst="rect">
            <a:avLst/>
          </a:prstGeom>
        </p:spPr>
      </p:pic>
      <p:pic>
        <p:nvPicPr>
          <p:cNvPr id="3" name="Picture 2" descr="7afd67230e5ff3fd5f639228cff04a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835" y="1268730"/>
            <a:ext cx="5680710" cy="42589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KSO_WM_MEDIACOVER_FLAG" val="1"/>
  <p:tag name="KSO_WM_UNIT_MEDIACOVER_BTN_STATE" val="1"/>
  <p:tag name="KSO_WM_UNIT_MEDIACOVER_BTNRECT" val="0*0*0*0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1838</Words>
  <Application>WPS Presentation</Application>
  <PresentationFormat>Converted Presentation</PresentationFormat>
  <Paragraphs>144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9" baseType="lpstr">
      <vt:lpstr>Arial</vt:lpstr>
      <vt:lpstr>SimSun</vt:lpstr>
      <vt:lpstr>Wingdings</vt:lpstr>
      <vt:lpstr>Helvetica Neue</vt:lpstr>
      <vt:lpstr>Microsoft YaHei</vt:lpstr>
      <vt:lpstr>方正雅意黑 GB18030L2</vt:lpstr>
      <vt:lpstr>Arial Unicode MS</vt:lpstr>
      <vt:lpstr>Calibri</vt:lpstr>
      <vt:lpstr>Helvetica Neue</vt:lpstr>
      <vt:lpstr>汉仪书宋二KW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。</cp:lastModifiedBy>
  <cp:revision>3</cp:revision>
  <dcterms:created xsi:type="dcterms:W3CDTF">2026-09-03T13:31:32Z</dcterms:created>
  <dcterms:modified xsi:type="dcterms:W3CDTF">2026-09-03T13:31:32Z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1033-12.1.26055.26055</vt:lpwstr>
  </property>
  <property fmtid="{D5CDD505-2E9C-101B-9397-08002B2CF9AE}" pid="3" name="ICV">
    <vt:lpwstr>D426A7730F80BFA9F874996A43FBBB00_42</vt:lpwstr>
  </property>
</Properties>
</file>